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68" r:id="rId3"/>
    <p:sldId id="371" r:id="rId4"/>
    <p:sldId id="387" r:id="rId5"/>
    <p:sldId id="348" r:id="rId6"/>
    <p:sldId id="388" r:id="rId7"/>
    <p:sldId id="389" r:id="rId8"/>
    <p:sldId id="338" r:id="rId9"/>
    <p:sldId id="341" r:id="rId10"/>
    <p:sldId id="343" r:id="rId11"/>
    <p:sldId id="345" r:id="rId12"/>
    <p:sldId id="346" r:id="rId13"/>
    <p:sldId id="34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10016C7-9588-D94C-90AD-00C21C962FC8}">
          <p14:sldIdLst>
            <p14:sldId id="256"/>
            <p14:sldId id="368"/>
            <p14:sldId id="371"/>
            <p14:sldId id="387"/>
            <p14:sldId id="348"/>
            <p14:sldId id="388"/>
            <p14:sldId id="389"/>
            <p14:sldId id="338"/>
            <p14:sldId id="341"/>
            <p14:sldId id="343"/>
            <p14:sldId id="345"/>
            <p14:sldId id="346"/>
            <p14:sldId id="347"/>
          </p14:sldIdLst>
        </p14:section>
        <p14:section name="제목 없는 구역" id="{45868175-66DC-4346-93F3-8290583AC7F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81"/>
    <p:restoredTop sz="94674"/>
  </p:normalViewPr>
  <p:slideViewPr>
    <p:cSldViewPr snapToGrid="0" snapToObjects="1">
      <p:cViewPr varScale="1">
        <p:scale>
          <a:sx n="198" d="100"/>
          <a:sy n="198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32F1C-A509-984F-9E5B-E228248344CD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3281F-892B-614E-B792-481EB2F7C5B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44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392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60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108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454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876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00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163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60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552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771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514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BEE32-551C-D044-9ECF-F871403689A5}" type="datetimeFigureOut">
              <a:rPr kumimoji="1" lang="ko-KR" altLang="en-US" smtClean="0"/>
              <a:t>2019. 4. 2.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4A5D6-8AE4-104F-9AEC-6D4E40A744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68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tiff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tiff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hyperlink" Target="http://cocoanlab.github.io/" TargetMode="External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3.png"/><Relationship Id="rId3" Type="http://schemas.openxmlformats.org/officeDocument/2006/relationships/image" Target="../media/image2.tiff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5.png"/><Relationship Id="rId5" Type="http://schemas.openxmlformats.org/officeDocument/2006/relationships/hyperlink" Target="http://cocoanlab.github.io/" TargetMode="External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cocoanlab.github.io/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ocoanlab.github.io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5411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9202" y="116699"/>
            <a:ext cx="33203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GBME Grad Basic Stats |  Spring 2019</a:t>
            </a:r>
            <a:endParaRPr lang="ko-KR" altLang="en-US" sz="16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782467" y="102769"/>
            <a:ext cx="23015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Lecture 05  |  040219</a:t>
            </a:r>
            <a:endParaRPr lang="ko-KR" altLang="en-US" sz="16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645814" y="2120740"/>
            <a:ext cx="2900409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800" dirty="0">
                <a:solidFill>
                  <a:schemeClr val="accent6">
                    <a:lumMod val="75000"/>
                  </a:schemeClr>
                </a:solidFill>
                <a:latin typeface="Seravek Light" charset="0"/>
                <a:ea typeface="Seravek Light" charset="0"/>
                <a:cs typeface="Seravek Light" charset="0"/>
              </a:rPr>
              <a:t>Lecture 05</a:t>
            </a:r>
          </a:p>
          <a:p>
            <a:pPr algn="ctr"/>
            <a:r>
              <a:rPr lang="en-US" altLang="ko-KR" sz="4800" dirty="0">
                <a:latin typeface="Seravek Light" charset="0"/>
                <a:ea typeface="Seravek Light" charset="0"/>
                <a:cs typeface="Seravek Light" charset="0"/>
              </a:rPr>
              <a:t>Sampling</a:t>
            </a:r>
          </a:p>
          <a:p>
            <a:pPr algn="ctr"/>
            <a:r>
              <a:rPr lang="en-US" altLang="ko-KR" sz="4800" dirty="0">
                <a:latin typeface="Seravek Light" charset="0"/>
                <a:ea typeface="Seravek Light" charset="0"/>
                <a:cs typeface="Seravek Light" charset="0"/>
              </a:rPr>
              <a:t>(Ch. 7)</a:t>
            </a:r>
            <a:endParaRPr lang="en-US" altLang="ko-KR" sz="4000" dirty="0">
              <a:latin typeface="Seravek Light" charset="0"/>
              <a:ea typeface="Seravek Light" charset="0"/>
              <a:cs typeface="Seravek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52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16177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Sampling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05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0" name="텍스트 상자 19"/>
          <p:cNvSpPr txBox="1"/>
          <p:nvPr/>
        </p:nvSpPr>
        <p:spPr>
          <a:xfrm>
            <a:off x="1136286" y="989045"/>
            <a:ext cx="11055714" cy="4826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Idea 1: Examine a part of the whole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Why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 do we need sampling?   </a:t>
            </a: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To save time, money, effort, etc.</a:t>
            </a:r>
            <a:endParaRPr lang="en-US" altLang="ko-KR" sz="1600" dirty="0">
              <a:solidFill>
                <a:srgbClr val="C00000"/>
              </a:solidFill>
              <a:latin typeface="Seravek Light" charset="0"/>
              <a:ea typeface="Seravek Light" charset="0"/>
              <a:cs typeface="Seravek Light" charset="0"/>
            </a:endParaRP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endParaRPr lang="en-US" altLang="ko-KR" sz="1600" dirty="0">
              <a:solidFill>
                <a:srgbClr val="C00000"/>
              </a:solidFill>
              <a:latin typeface="Seravek Light" charset="0"/>
              <a:ea typeface="Seravek Light" charset="0"/>
              <a:cs typeface="Seravek Light" charset="0"/>
            </a:endParaRP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Population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: the entire group of individuals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Sample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: a smaller group of individuals, selected from the population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endParaRPr lang="en-US" altLang="ko-KR" sz="1600" dirty="0">
              <a:latin typeface="Seravek Light" charset="0"/>
              <a:ea typeface="Seravek Light" charset="0"/>
              <a:cs typeface="Seravek Light" charset="0"/>
            </a:endParaRP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It is difficult to ensure the sample </a:t>
            </a:r>
            <a:r>
              <a:rPr lang="en-US" altLang="ko-KR" sz="16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represents 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the population, and </a:t>
            </a:r>
            <a:r>
              <a:rPr lang="en-US" altLang="ko-KR" sz="1600" i="1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how we select the sample</a:t>
            </a:r>
            <a:r>
              <a:rPr lang="en-US" altLang="ko-KR" sz="16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 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is critical to ensure that the sample is </a:t>
            </a: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representative 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of the entire population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endParaRPr lang="en-US" altLang="ko-KR" sz="1600" dirty="0">
              <a:solidFill>
                <a:srgbClr val="C00000"/>
              </a:solidFill>
              <a:latin typeface="Seravek Light" charset="0"/>
              <a:ea typeface="Seravek Light" charset="0"/>
              <a:cs typeface="Seravek Light" charset="0"/>
            </a:endParaRP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Bias: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 over- or under-represent some characteristics of the population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“</a:t>
            </a: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biased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”: values from the samples are </a:t>
            </a: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systematically 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different from the population values (parameters)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“unbiased”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: in the long run, we expect them to have the same values as the population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181479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16177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Sampling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05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0" name="텍스트 상자 19"/>
          <p:cNvSpPr txBox="1"/>
          <p:nvPr/>
        </p:nvSpPr>
        <p:spPr>
          <a:xfrm>
            <a:off x="1136286" y="989045"/>
            <a:ext cx="11055714" cy="3645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Idea 1: Examine a part of the whole</a:t>
            </a:r>
          </a:p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Idea 2: Randomize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To make sure the sampling is </a:t>
            </a: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not biased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Simple random sampling: Each subject has an equal chance of being selected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Stratified random sampling</a:t>
            </a:r>
          </a:p>
          <a:p>
            <a:pPr marL="1200150" lvl="2" indent="-285750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b="1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Strata: 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the population is first divided into homogeneous groups (e.g., male and female)</a:t>
            </a:r>
          </a:p>
          <a:p>
            <a:pPr marL="1200150" lvl="2" indent="-285750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Then, simple random sampling within each stratum before the results are combined.</a:t>
            </a:r>
          </a:p>
          <a:p>
            <a:pPr marL="1657350" lvl="3" indent="-285750">
              <a:lnSpc>
                <a:spcPct val="160000"/>
              </a:lnSpc>
              <a:buFont typeface="Arial" charset="0"/>
              <a:buChar char="•"/>
            </a:pPr>
            <a:r>
              <a:rPr lang="en-US" altLang="ko-KR" sz="1400" dirty="0">
                <a:latin typeface="Seravek Light" charset="0"/>
                <a:ea typeface="Seravek Light" charset="0"/>
                <a:cs typeface="Seravek Light" charset="0"/>
              </a:rPr>
              <a:t>E.g., 60% men and 40% women in the campus: randomly sample 60 men and 40 women for 100 subjects</a:t>
            </a:r>
            <a:endParaRPr lang="en-US" altLang="ko-KR" dirty="0">
              <a:latin typeface="Seravek Light" charset="0"/>
              <a:ea typeface="Seravek Light" charset="0"/>
              <a:cs typeface="Seravek Light" charset="0"/>
            </a:endParaRP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Other sampling methods: cluster sampling, multistage sampling, systematic sampling</a:t>
            </a:r>
          </a:p>
        </p:txBody>
      </p:sp>
    </p:spTree>
    <p:extLst>
      <p:ext uri="{BB962C8B-B14F-4D97-AF65-F5344CB8AC3E}">
        <p14:creationId xmlns:p14="http://schemas.microsoft.com/office/powerpoint/2010/main" val="101456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16177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Sampling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05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0" name="텍스트 상자 19"/>
          <p:cNvSpPr txBox="1"/>
          <p:nvPr/>
        </p:nvSpPr>
        <p:spPr>
          <a:xfrm>
            <a:off x="1136286" y="989045"/>
            <a:ext cx="11055714" cy="33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Idea 1: Examine a part of the whole</a:t>
            </a:r>
          </a:p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Idea 2: Randomize</a:t>
            </a:r>
          </a:p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Idea 3: Sample size matters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Important thing is not the fraction of the population, but the sample size.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i="1" dirty="0">
                <a:latin typeface="Seravek Light" charset="0"/>
                <a:ea typeface="Seravek Light" charset="0"/>
                <a:cs typeface="Seravek Light" charset="0"/>
              </a:rPr>
              <a:t>Census</a:t>
            </a: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: examine the entire population</a:t>
            </a:r>
          </a:p>
          <a:p>
            <a:pPr marL="1228725" lvl="2" indent="-314325">
              <a:lnSpc>
                <a:spcPct val="160000"/>
              </a:lnSpc>
              <a:buFont typeface="Wingdings" charset="2"/>
              <a:buChar char="§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It is difficult to complete a census</a:t>
            </a:r>
          </a:p>
          <a:p>
            <a:pPr marL="1228725" lvl="2" indent="-314325">
              <a:lnSpc>
                <a:spcPct val="160000"/>
              </a:lnSpc>
              <a:buFont typeface="Wingdings" charset="2"/>
              <a:buChar char="§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More noisy</a:t>
            </a:r>
          </a:p>
          <a:p>
            <a:pPr marL="1228725" lvl="2" indent="-314325">
              <a:lnSpc>
                <a:spcPct val="160000"/>
              </a:lnSpc>
              <a:buFont typeface="Wingdings" charset="2"/>
              <a:buChar char="§"/>
            </a:pPr>
            <a:r>
              <a:rPr lang="en-US" altLang="ko-KR" sz="1600" dirty="0">
                <a:latin typeface="Seravek Light" charset="0"/>
                <a:ea typeface="Seravek Light" charset="0"/>
                <a:cs typeface="Seravek Light" charset="0"/>
              </a:rPr>
              <a:t>They do not stand still</a:t>
            </a:r>
          </a:p>
        </p:txBody>
      </p:sp>
    </p:spTree>
    <p:extLst>
      <p:ext uri="{BB962C8B-B14F-4D97-AF65-F5344CB8AC3E}">
        <p14:creationId xmlns:p14="http://schemas.microsoft.com/office/powerpoint/2010/main" val="26638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05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2451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Sampling error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3" name="텍스트 상자 2"/>
          <p:cNvSpPr txBox="1"/>
          <p:nvPr/>
        </p:nvSpPr>
        <p:spPr>
          <a:xfrm>
            <a:off x="1136286" y="849084"/>
            <a:ext cx="9631031" cy="536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i="1" dirty="0">
                <a:latin typeface="Seravek Light" panose="020B0503040000020004" pitchFamily="34" charset="0"/>
              </a:rPr>
              <a:t>Sampling error: </a:t>
            </a:r>
            <a:r>
              <a:rPr lang="en-US" altLang="ko-KR" dirty="0">
                <a:latin typeface="Seravek Light" panose="020B0503040000020004" pitchFamily="34" charset="0"/>
              </a:rPr>
              <a:t>The statistic from each sample differs slightly from the population parameter</a:t>
            </a:r>
          </a:p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i="1" dirty="0">
                <a:latin typeface="Seravek Light" panose="020B0503040000020004" pitchFamily="34" charset="0"/>
              </a:rPr>
              <a:t>Sampling distribution</a:t>
            </a:r>
            <a:r>
              <a:rPr lang="en-US" altLang="ko-KR" dirty="0">
                <a:latin typeface="Seravek Light" panose="020B0503040000020004" pitchFamily="34" charset="0"/>
              </a:rPr>
              <a:t>: The distribution of our statistic across samples</a:t>
            </a:r>
          </a:p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dirty="0">
                <a:latin typeface="Seravek Light" panose="020B0503040000020004" pitchFamily="34" charset="0"/>
              </a:rPr>
              <a:t>Example of NHANES dataset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  <a:highlight>
                  <a:srgbClr val="808080"/>
                </a:highlight>
                <a:latin typeface="Seravek Light" panose="020B0503040000020004" pitchFamily="34" charset="0"/>
              </a:rPr>
              <a:t>Population distribution (gray histogram)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400" dirty="0">
                <a:latin typeface="Seravek Light" panose="020B0503040000020004" pitchFamily="34" charset="0"/>
              </a:rPr>
              <a:t>the population mean of height = 168.35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400" dirty="0">
                <a:latin typeface="Seravek Light" panose="020B0503040000020004" pitchFamily="34" charset="0"/>
              </a:rPr>
              <a:t>the population standard deviation = 10.16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" altLang="ko-KR" sz="1600" b="1" dirty="0">
                <a:solidFill>
                  <a:schemeClr val="bg1"/>
                </a:solidFill>
                <a:highlight>
                  <a:srgbClr val="0000FF"/>
                </a:highlight>
                <a:latin typeface="Seravek Light" panose="020B0503040000020004" pitchFamily="34" charset="0"/>
              </a:rPr>
              <a:t>Sampling distribution (blue)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" altLang="ko-KR" sz="1400" dirty="0">
                <a:latin typeface="Seravek Light" panose="020B0503040000020004" pitchFamily="34" charset="0"/>
              </a:rPr>
              <a:t>50 individuals for each sample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" altLang="ko-KR" sz="1400" dirty="0">
                <a:latin typeface="Seravek Light" panose="020B0503040000020004" pitchFamily="34" charset="0"/>
              </a:rPr>
              <a:t>5,000 samples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" altLang="ko-KR" sz="1400" dirty="0">
                <a:latin typeface="Seravek Light" panose="020B0503040000020004" pitchFamily="34" charset="0"/>
              </a:rPr>
              <a:t>Blue histogram: the distribution of the mean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400" dirty="0">
                <a:latin typeface="Seravek Light" panose="020B0503040000020004" pitchFamily="34" charset="0"/>
              </a:rPr>
              <a:t>t</a:t>
            </a:r>
            <a:r>
              <a:rPr lang="en" altLang="ko-KR" sz="1400" dirty="0">
                <a:latin typeface="Seravek Light" panose="020B0503040000020004" pitchFamily="34" charset="0"/>
              </a:rPr>
              <a:t>he mean of the sampling distribution = 168.33</a:t>
            </a:r>
          </a:p>
          <a:p>
            <a:pPr marL="1228725" lvl="2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400" dirty="0">
                <a:latin typeface="Seravek Light" panose="020B0503040000020004" pitchFamily="34" charset="0"/>
              </a:rPr>
              <a:t>t</a:t>
            </a:r>
            <a:r>
              <a:rPr lang="en" altLang="ko-KR" sz="1400" dirty="0">
                <a:latin typeface="Seravek Light" panose="020B0503040000020004" pitchFamily="34" charset="0"/>
              </a:rPr>
              <a:t>he standard deviation of sample means = 1.43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" altLang="ko-KR" sz="1600" dirty="0">
                <a:latin typeface="Seravek Light" panose="020B0503040000020004" pitchFamily="34" charset="0"/>
              </a:rPr>
              <a:t>Mean is almost same: 168.35 vs. 168.33</a:t>
            </a:r>
          </a:p>
          <a:p>
            <a:pPr marL="771525" lvl="1" indent="-314325">
              <a:lnSpc>
                <a:spcPct val="160000"/>
              </a:lnSpc>
              <a:buFont typeface="Arial" charset="0"/>
              <a:buChar char="•"/>
            </a:pPr>
            <a:r>
              <a:rPr lang="en" altLang="ko-KR" sz="1600" dirty="0">
                <a:latin typeface="Seravek Light" panose="020B0503040000020004" pitchFamily="34" charset="0"/>
              </a:rPr>
              <a:t>But standard deviation is different: 10.16 vs. 1.43, why?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D8C66B-3B90-DF4B-A517-E3B007405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087901"/>
            <a:ext cx="5862336" cy="335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0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05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43397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Standard error of the mean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상자 2"/>
              <p:cNvSpPr txBox="1"/>
              <p:nvPr/>
            </p:nvSpPr>
            <p:spPr>
              <a:xfrm>
                <a:off x="1136286" y="849084"/>
                <a:ext cx="9631031" cy="5480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The standard error the sample mean:                                 , where </a:t>
                </a:r>
                <a:r>
                  <a:rPr lang="en" altLang="ko-KR" sz="1600" i="1" dirty="0">
                    <a:latin typeface="Seravek Light" panose="020B0503040000020004" pitchFamily="34" charset="0"/>
                  </a:rPr>
                  <a:t>n</a:t>
                </a:r>
                <a:r>
                  <a:rPr lang="en" altLang="ko-KR" sz="1600" dirty="0">
                    <a:latin typeface="Seravek Light" panose="020B0503040000020004" pitchFamily="34" charset="0"/>
                  </a:rPr>
                  <a:t> is the size of each sample</a:t>
                </a: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endParaRPr lang="en" altLang="ko-KR" sz="800" dirty="0">
                  <a:latin typeface="Seravek Light" panose="020B0503040000020004" pitchFamily="34" charset="0"/>
                </a:endParaRP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But we usually don’t know </a:t>
                </a:r>
                <a14:m>
                  <m:oMath xmlns:m="http://schemas.openxmlformats.org/officeDocument/2006/math">
                    <m:r>
                      <a:rPr lang="en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" altLang="ko-KR" sz="1600" dirty="0">
                    <a:latin typeface="Seravek Light" panose="020B0503040000020004" pitchFamily="34" charset="0"/>
                  </a:rPr>
                  <a:t> (the population standard deviation)</a:t>
                </a: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We instead use the sample standard deviation,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" altLang="ko-K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Seravek Light" panose="020B0503040000020004" pitchFamily="34" charset="0"/>
                  </a:rPr>
                  <a:t>,</a:t>
                </a:r>
                <a:r>
                  <a:rPr lang="ko-KR" altLang="en-US" sz="1600" dirty="0">
                    <a:latin typeface="Seravek Light" panose="020B0503040000020004" pitchFamily="34" charset="0"/>
                  </a:rPr>
                  <a:t> </a:t>
                </a:r>
                <a:r>
                  <a:rPr lang="en-US" altLang="ko-KR" sz="1600" dirty="0">
                    <a:latin typeface="Seravek Light" panose="020B0503040000020004" pitchFamily="34" charset="0"/>
                  </a:rPr>
                  <a:t>then it becomes</a:t>
                </a: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endParaRPr lang="en-US" altLang="ko-KR" sz="1000" dirty="0">
                  <a:latin typeface="Seravek Light" panose="020B0503040000020004" pitchFamily="34" charset="0"/>
                </a:endParaRP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panose="020B0503040000020004" pitchFamily="34" charset="0"/>
                  </a:rPr>
                  <a:t>In our example (5,000 samples of </a:t>
                </a:r>
                <a:r>
                  <a:rPr lang="en-US" altLang="ko-KR" sz="1600" i="1" dirty="0">
                    <a:latin typeface="Seravek Light" panose="020B0503040000020004" pitchFamily="34" charset="0"/>
                  </a:rPr>
                  <a:t>n</a:t>
                </a:r>
                <a:r>
                  <a:rPr lang="en-US" altLang="ko-KR" sz="1600" dirty="0">
                    <a:latin typeface="Seravek Light" panose="020B0503040000020004" pitchFamily="34" charset="0"/>
                  </a:rPr>
                  <a:t> = 50), </a:t>
                </a:r>
                <a14:m>
                  <m:oMath xmlns:m="http://schemas.openxmlformats.org/officeDocument/2006/math">
                    <m:r>
                      <a:rPr lang="en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" altLang="ko-KR" sz="1600" dirty="0">
                    <a:latin typeface="Seravek Light" panose="020B0503040000020004" pitchFamily="34" charset="0"/>
                  </a:rPr>
                  <a:t>/SEM = 10.16/1.43 = 7.10 </a:t>
                </a:r>
                <a14:m>
                  <m:oMath xmlns:m="http://schemas.openxmlformats.org/officeDocument/2006/math">
                    <m:r>
                      <a:rPr lang="en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endParaRPr lang="en-US" altLang="ko-KR" sz="1600" dirty="0">
                  <a:latin typeface="Seravek Light" panose="020B0503040000020004" pitchFamily="34" charset="0"/>
                  <a:ea typeface="Cambria Math" panose="02040503050406030204" pitchFamily="18" charset="0"/>
                </a:endParaRP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endParaRPr lang="en" altLang="ko-KR" sz="900" dirty="0">
                  <a:latin typeface="Seravek Light" panose="020B0503040000020004" pitchFamily="34" charset="0"/>
                </a:endParaRP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In our example, we know </a:t>
                </a:r>
                <a14:m>
                  <m:oMath xmlns:m="http://schemas.openxmlformats.org/officeDocument/2006/math">
                    <m:r>
                      <a:rPr lang="en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" altLang="ko-KR" sz="1600" dirty="0">
                    <a:latin typeface="Seravek Light" panose="020B0503040000020004" pitchFamily="34" charset="0"/>
                  </a:rPr>
                  <a:t>, but what if we don’t know </a:t>
                </a:r>
                <a14:m>
                  <m:oMath xmlns:m="http://schemas.openxmlformats.org/officeDocument/2006/math">
                    <m:r>
                      <a:rPr lang="en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" altLang="ko-KR" sz="1600" dirty="0">
                    <a:latin typeface="Seravek Light" panose="020B0503040000020004" pitchFamily="34" charset="0"/>
                  </a:rPr>
                  <a:t>?</a:t>
                </a: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We use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" altLang="ko-KR" sz="1600" dirty="0">
                    <a:latin typeface="Seravek Light" panose="020B0503040000020004" pitchFamily="34" charset="0"/>
                  </a:rPr>
                  <a:t>, which is 10.07 for a sample from the textbook</a:t>
                </a: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SEM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ko-K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10.07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=1.42</m:t>
                    </m:r>
                  </m:oMath>
                </a14:m>
                <a:endParaRPr lang="en" altLang="ko-KR" sz="1600" dirty="0">
                  <a:latin typeface="Seravek Light" panose="020B0503040000020004" pitchFamily="34" charset="0"/>
                </a:endParaRP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1.42 is similar to the 1.43 (results from 5,000 sampling), right?</a:t>
                </a: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endParaRPr lang="en" altLang="ko-KR" sz="900" dirty="0">
                  <a:latin typeface="Seravek Light" panose="020B0503040000020004" pitchFamily="34" charset="0"/>
                </a:endParaRPr>
              </a:p>
              <a:p>
                <a:pPr marL="314325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600" dirty="0">
                    <a:latin typeface="Seravek Light" panose="020B0503040000020004" pitchFamily="34" charset="0"/>
                  </a:rPr>
                  <a:t>Smaller SEM is better! Two components of SEM:</a:t>
                </a: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400" dirty="0">
                    <a:latin typeface="Seravek Light" panose="020B0503040000020004" pitchFamily="34" charset="0"/>
                  </a:rPr>
                  <a:t>1) Population variability</a:t>
                </a:r>
              </a:p>
              <a:p>
                <a:pPr marL="771525" lvl="1" indent="-314325">
                  <a:lnSpc>
                    <a:spcPct val="160000"/>
                  </a:lnSpc>
                  <a:buFont typeface="Arial" charset="0"/>
                  <a:buChar char="•"/>
                </a:pPr>
                <a:r>
                  <a:rPr lang="en" altLang="ko-KR" sz="1400" b="1" dirty="0">
                    <a:solidFill>
                      <a:srgbClr val="C00000"/>
                    </a:solidFill>
                    <a:latin typeface="Seravek Light" panose="020B0503040000020004" pitchFamily="34" charset="0"/>
                  </a:rPr>
                  <a:t>2) T</a:t>
                </a:r>
                <a:r>
                  <a:rPr lang="en-US" altLang="ko-KR" sz="1400" b="1" dirty="0">
                    <a:solidFill>
                      <a:srgbClr val="C00000"/>
                    </a:solidFill>
                    <a:latin typeface="Seravek Light" panose="020B0503040000020004" pitchFamily="34" charset="0"/>
                  </a:rPr>
                  <a:t>h</a:t>
                </a:r>
                <a:r>
                  <a:rPr lang="en" altLang="ko-KR" sz="1400" b="1" dirty="0">
                    <a:solidFill>
                      <a:srgbClr val="C00000"/>
                    </a:solidFill>
                    <a:latin typeface="Seravek Light" panose="020B0503040000020004" pitchFamily="34" charset="0"/>
                  </a:rPr>
                  <a:t>e size of the sample</a:t>
                </a:r>
                <a:r>
                  <a:rPr lang="en" altLang="ko-KR" sz="1400" dirty="0">
                    <a:latin typeface="Seravek Light" panose="020B0503040000020004" pitchFamily="34" charset="0"/>
                  </a:rPr>
                  <a:t>: Often, this is what we have control over, but improve by 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" altLang="ko-KR" sz="1400" dirty="0">
                  <a:latin typeface="Seravek Light" panose="020B0503040000020004" pitchFamily="34" charset="0"/>
                </a:endParaRPr>
              </a:p>
            </p:txBody>
          </p:sp>
        </mc:Choice>
        <mc:Fallback>
          <p:sp>
            <p:nvSpPr>
              <p:cNvPr id="3" name="텍스트 상자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286" y="849084"/>
                <a:ext cx="9631031" cy="5480411"/>
              </a:xfrm>
              <a:prstGeom prst="rect">
                <a:avLst/>
              </a:prstGeom>
              <a:blipFill>
                <a:blip r:embed="rId6"/>
                <a:stretch>
                  <a:fillRect l="-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831E5E7A-8127-0C44-AC08-8176151B1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434" y="934350"/>
            <a:ext cx="1286510" cy="5157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5447246-4888-6E40-AB5D-F20F08004D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9394" y="1828980"/>
            <a:ext cx="1233566" cy="59828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1476BC4A-E408-BB4E-A8FF-57C832A3DAB1}"/>
              </a:ext>
            </a:extLst>
          </p:cNvPr>
          <p:cNvGrpSpPr/>
          <p:nvPr/>
        </p:nvGrpSpPr>
        <p:grpSpPr>
          <a:xfrm>
            <a:off x="5547361" y="2585669"/>
            <a:ext cx="6098074" cy="3356539"/>
            <a:chOff x="5547361" y="2585669"/>
            <a:chExt cx="6098074" cy="335653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B45DD22-365A-F349-9FD2-ADC072B8F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54716" y="2585669"/>
              <a:ext cx="3090719" cy="3356539"/>
            </a:xfrm>
            <a:prstGeom prst="rect">
              <a:avLst/>
            </a:prstGeom>
          </p:spPr>
        </p:pic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07687D7-F21C-5F4A-8344-0F9E94EC1C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7361" y="3889449"/>
              <a:ext cx="2895599" cy="193223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376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05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36114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Central Limit Theorem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3" name="텍스트 상자 2"/>
          <p:cNvSpPr txBox="1"/>
          <p:nvPr/>
        </p:nvSpPr>
        <p:spPr>
          <a:xfrm>
            <a:off x="1136286" y="849084"/>
            <a:ext cx="9631031" cy="838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dirty="0">
                <a:latin typeface="Seravek Light" panose="020B0503040000020004" pitchFamily="34" charset="0"/>
              </a:rPr>
              <a:t>As sample size get larger, the sampling distribution of the mean will become </a:t>
            </a:r>
            <a:r>
              <a:rPr lang="en-US" altLang="ko-KR" sz="1600" dirty="0">
                <a:solidFill>
                  <a:srgbClr val="C00000"/>
                </a:solidFill>
                <a:latin typeface="Seravek Light" panose="020B0503040000020004" pitchFamily="34" charset="0"/>
              </a:rPr>
              <a:t>normally distributed</a:t>
            </a:r>
          </a:p>
          <a:p>
            <a:pPr marL="314325" indent="-314325">
              <a:lnSpc>
                <a:spcPct val="160000"/>
              </a:lnSpc>
              <a:buFont typeface="Arial" charset="0"/>
              <a:buChar char="•"/>
            </a:pPr>
            <a:r>
              <a:rPr lang="en-US" altLang="ko-KR" sz="1600" i="1" dirty="0">
                <a:solidFill>
                  <a:srgbClr val="C00000"/>
                </a:solidFill>
                <a:latin typeface="Seravek Light" panose="020B0503040000020004" pitchFamily="34" charset="0"/>
              </a:rPr>
              <a:t>Even if </a:t>
            </a:r>
            <a:r>
              <a:rPr lang="en-US" altLang="ko-KR" sz="1600" i="1" dirty="0">
                <a:latin typeface="Seravek Light" panose="020B0503040000020004" pitchFamily="34" charset="0"/>
              </a:rPr>
              <a:t>the data within each sample are not normally distributed</a:t>
            </a:r>
            <a:endParaRPr lang="en" altLang="ko-KR" sz="1400" i="1" dirty="0">
              <a:latin typeface="Seravek Light" panose="020B05030400000200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5154BE8-282B-704B-8C6E-E9BA664D4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725" y="2010455"/>
            <a:ext cx="5329980" cy="31979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7D929EF-4132-D14F-B787-1D0F7A830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563" y="2116379"/>
            <a:ext cx="4867573" cy="2818069"/>
          </a:xfrm>
          <a:prstGeom prst="rect">
            <a:avLst/>
          </a:prstGeom>
        </p:spPr>
      </p:pic>
      <p:sp>
        <p:nvSpPr>
          <p:cNvPr id="18" name="줄무늬가 있는 오른쪽 화살표[S] 17">
            <a:extLst>
              <a:ext uri="{FF2B5EF4-FFF2-40B4-BE49-F238E27FC236}">
                <a16:creationId xmlns:a16="http://schemas.microsoft.com/office/drawing/2014/main" id="{A87B4585-D51B-9B42-8DE8-2621C6522AD7}"/>
              </a:ext>
            </a:extLst>
          </p:cNvPr>
          <p:cNvSpPr/>
          <p:nvPr/>
        </p:nvSpPr>
        <p:spPr>
          <a:xfrm>
            <a:off x="5602130" y="3092597"/>
            <a:ext cx="609600" cy="432816"/>
          </a:xfrm>
          <a:prstGeom prst="stripedRightArrow">
            <a:avLst>
              <a:gd name="adj1" fmla="val 35915"/>
              <a:gd name="adj2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290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3167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Confidence Interval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상자 13"/>
              <p:cNvSpPr txBox="1"/>
              <p:nvPr/>
            </p:nvSpPr>
            <p:spPr>
              <a:xfrm>
                <a:off x="1140325" y="821560"/>
                <a:ext cx="9953773" cy="2641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14325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Usually, we don’t know population mean (</a:t>
                </a:r>
                <a14:m>
                  <m:oMath xmlns:m="http://schemas.openxmlformats.org/officeDocument/2006/math">
                    <m:r>
                      <a:rPr kumimoji="1" lang="en-US" altLang="ko-KR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) and population standard deviation (</a:t>
                </a:r>
                <a14:m>
                  <m:oMath xmlns:m="http://schemas.openxmlformats.org/officeDocument/2006/math">
                    <m:r>
                      <a:rPr lang="en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)</a:t>
                </a:r>
              </a:p>
              <a:p>
                <a:pPr marL="314325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What we know is sample mean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ravek Light" charset="0"/>
                            <a:cs typeface="Seravek Light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ravek Light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) and the sample standard deviation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)</a:t>
                </a:r>
              </a:p>
              <a:p>
                <a:pPr marL="314325" indent="-314325">
                  <a:lnSpc>
                    <a:spcPct val="150000"/>
                  </a:lnSpc>
                  <a:buFont typeface="Arial" charset="0"/>
                  <a:buChar char="•"/>
                </a:pPr>
                <a:endParaRPr lang="en-US" altLang="ko-KR" sz="1600" dirty="0">
                  <a:solidFill>
                    <a:srgbClr val="C00000"/>
                  </a:solidFill>
                  <a:latin typeface="Seravek Light" charset="0"/>
                  <a:ea typeface="Seravek Light" charset="0"/>
                  <a:cs typeface="Seravek Light" charset="0"/>
                </a:endParaRPr>
              </a:p>
              <a:p>
                <a:pPr marL="314325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solidFill>
                      <a:srgbClr val="C00000"/>
                    </a:solidFill>
                    <a:latin typeface="Seravek Light" charset="0"/>
                    <a:ea typeface="Seravek Light" charset="0"/>
                    <a:cs typeface="Seravek Light" charset="0"/>
                  </a:rPr>
                  <a:t>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eravek Light" charset="0"/>
                            <a:cs typeface="Seravek Light" charset="0"/>
                          </a:rPr>
                        </m:ctrlPr>
                      </m:accPr>
                      <m:e>
                        <m:r>
                          <a:rPr kumimoji="1" lang="en-US" altLang="ko-KR" sz="16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ravek Light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ko-KR" sz="1600" dirty="0">
                    <a:solidFill>
                      <a:srgbClr val="C00000"/>
                    </a:solidFill>
                    <a:latin typeface="Seravek Light" charset="0"/>
                    <a:ea typeface="Seravek Light" charset="0"/>
                    <a:cs typeface="Seravek Light" charset="0"/>
                  </a:rPr>
                  <a:t>’</a:t>
                </a:r>
                <a:r>
                  <a:rPr lang="en-US" altLang="ko-KR" sz="1600" dirty="0">
                    <a:solidFill>
                      <a:srgbClr val="C00000"/>
                    </a:solidFill>
                    <a:ea typeface="Seravek Light" charset="0"/>
                    <a:cs typeface="Seravek Light" charset="0"/>
                  </a:rPr>
                  <a:t>s </a:t>
                </a:r>
                <a:r>
                  <a:rPr lang="en-US" altLang="ko-KR" sz="1600" dirty="0">
                    <a:solidFill>
                      <a:srgbClr val="C00000"/>
                    </a:solidFill>
                    <a:latin typeface="Seravek Light" charset="0"/>
                    <a:ea typeface="Seravek Light" charset="0"/>
                    <a:cs typeface="Seravek Light" charset="0"/>
                  </a:rPr>
                  <a:t>point of view:</a:t>
                </a: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“95% chance that </a:t>
                </a:r>
                <a14:m>
                  <m:oMath xmlns:m="http://schemas.openxmlformats.org/officeDocument/2006/math">
                    <m:r>
                      <a:rPr kumimoji="1" lang="en-US" altLang="ko-KR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 is no more than 1.96 SEMs away from me.”</a:t>
                </a: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“I’m 95% sure that </a:t>
                </a:r>
                <a14:m>
                  <m:oMath xmlns:m="http://schemas.openxmlformats.org/officeDocument/2006/math">
                    <m:r>
                      <a:rPr kumimoji="1" lang="en-US" altLang="ko-KR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 will be within my 1.96 SEM.”</a:t>
                </a: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“Even if my interval catch </a:t>
                </a:r>
                <a14:m>
                  <m:oMath xmlns:m="http://schemas.openxmlformats.org/officeDocument/2006/math">
                    <m:r>
                      <a:rPr kumimoji="1" lang="en-US" altLang="ko-KR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, I still don’t know its true value, but the best I can do is an </a:t>
                </a:r>
                <a:r>
                  <a:rPr lang="en-US" altLang="ko-KR" sz="1600" dirty="0">
                    <a:solidFill>
                      <a:srgbClr val="C00000"/>
                    </a:solidFill>
                    <a:latin typeface="Seravek Light" charset="0"/>
                    <a:ea typeface="Seravek Light" charset="0"/>
                    <a:cs typeface="Seravek Light" charset="0"/>
                  </a:rPr>
                  <a:t>interval</a:t>
                </a: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.”</a:t>
                </a:r>
              </a:p>
            </p:txBody>
          </p:sp>
        </mc:Choice>
        <mc:Fallback xmlns="">
          <p:sp>
            <p:nvSpPr>
              <p:cNvPr id="14" name="텍스트 상자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325" y="821560"/>
                <a:ext cx="9953773" cy="2641749"/>
              </a:xfrm>
              <a:prstGeom prst="rect">
                <a:avLst/>
              </a:prstGeom>
              <a:blipFill>
                <a:blip r:embed="rId6"/>
                <a:stretch>
                  <a:fillRect l="-255" b="-1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12 |  102918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148749" y="3732181"/>
            <a:ext cx="6117799" cy="2143701"/>
            <a:chOff x="3243017" y="3732181"/>
            <a:chExt cx="6117799" cy="214370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43017" y="3732181"/>
              <a:ext cx="5759581" cy="2143701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409468" y="3799002"/>
              <a:ext cx="1951348" cy="1005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406788" y="5867940"/>
            <a:ext cx="3152716" cy="483360"/>
            <a:chOff x="4413768" y="5867940"/>
            <a:chExt cx="3152716" cy="483360"/>
          </a:xfrm>
        </p:grpSpPr>
        <p:sp>
          <p:nvSpPr>
            <p:cNvPr id="13" name="오른쪽 대괄호[R] 12"/>
            <p:cNvSpPr/>
            <p:nvPr/>
          </p:nvSpPr>
          <p:spPr>
            <a:xfrm rot="5400000">
              <a:off x="5915650" y="4366058"/>
              <a:ext cx="148952" cy="3152716"/>
            </a:xfrm>
            <a:prstGeom prst="rightBracket">
              <a:avLst>
                <a:gd name="adj" fmla="val 114460"/>
              </a:avLst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텍스트 상자 21"/>
            <p:cNvSpPr txBox="1"/>
            <p:nvPr/>
          </p:nvSpPr>
          <p:spPr>
            <a:xfrm>
              <a:off x="5575346" y="6043523"/>
              <a:ext cx="8295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400" i="1" dirty="0">
                  <a:latin typeface="Seravek Light" charset="0"/>
                  <a:ea typeface="Seravek Light" charset="0"/>
                  <a:cs typeface="Seravek Light" charset="0"/>
                </a:rPr>
                <a:t>~95%</a:t>
              </a:r>
              <a:endParaRPr kumimoji="1" lang="ko-KR" altLang="en-US" sz="1400" dirty="0">
                <a:latin typeface="Seravek Light" charset="0"/>
                <a:ea typeface="Seravek Light" charset="0"/>
                <a:cs typeface="Seravek Light" charset="0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5666707" y="5090871"/>
            <a:ext cx="2003847" cy="426955"/>
            <a:chOff x="5666707" y="5090871"/>
            <a:chExt cx="2003847" cy="426955"/>
          </a:xfrm>
        </p:grpSpPr>
        <p:sp>
          <p:nvSpPr>
            <p:cNvPr id="24" name="타원 23"/>
            <p:cNvSpPr>
              <a:spLocks noChangeAspect="1"/>
            </p:cNvSpPr>
            <p:nvPr/>
          </p:nvSpPr>
          <p:spPr>
            <a:xfrm>
              <a:off x="7147775" y="5409826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텍스트 상자 24"/>
                <p:cNvSpPr txBox="1"/>
                <p:nvPr/>
              </p:nvSpPr>
              <p:spPr>
                <a:xfrm>
                  <a:off x="6840995" y="5090871"/>
                  <a:ext cx="82955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Seravek Light" charset="0"/>
                                <a:cs typeface="Seravek Light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1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ravek Light" charset="0"/>
                              </a:rPr>
                              <m:t>𝜇</m:t>
                            </m:r>
                          </m:e>
                        </m:acc>
                      </m:oMath>
                    </m:oMathPara>
                  </a14:m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25" name="텍스트 상자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995" y="5090871"/>
                  <a:ext cx="829559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직선 연결선[R] 26"/>
            <p:cNvCxnSpPr/>
            <p:nvPr/>
          </p:nvCxnSpPr>
          <p:spPr>
            <a:xfrm>
              <a:off x="5666707" y="5463826"/>
              <a:ext cx="1550434" cy="0"/>
            </a:xfrm>
            <a:prstGeom prst="line">
              <a:avLst/>
            </a:prstGeom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텍스트 상자 30"/>
          <p:cNvSpPr txBox="1"/>
          <p:nvPr/>
        </p:nvSpPr>
        <p:spPr>
          <a:xfrm>
            <a:off x="5392974" y="4794542"/>
            <a:ext cx="2277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1.96 SEM </a:t>
            </a:r>
          </a:p>
          <a:p>
            <a:pPr algn="ctr"/>
            <a:r>
              <a:rPr kumimoji="1" lang="en-US" altLang="ko-KR" sz="1400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= 95% chance</a:t>
            </a:r>
            <a:endParaRPr kumimoji="1" lang="ko-KR" altLang="en-US" sz="1400" dirty="0">
              <a:solidFill>
                <a:srgbClr val="C00000"/>
              </a:solidFill>
              <a:latin typeface="Seravek Light" charset="0"/>
              <a:ea typeface="Seravek Light" charset="0"/>
              <a:cs typeface="Seravek Light" charset="0"/>
            </a:endParaRPr>
          </a:p>
        </p:txBody>
      </p:sp>
      <p:cxnSp>
        <p:nvCxnSpPr>
          <p:cNvPr id="33" name="직선 연결선[R] 32"/>
          <p:cNvCxnSpPr/>
          <p:nvPr/>
        </p:nvCxnSpPr>
        <p:spPr>
          <a:xfrm flipH="1">
            <a:off x="7147775" y="5463826"/>
            <a:ext cx="1550434" cy="0"/>
          </a:xfrm>
          <a:prstGeom prst="line">
            <a:avLst/>
          </a:prstGeom>
          <a:ln w="28575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텍스트 상자 9">
                <a:extLst>
                  <a:ext uri="{FF2B5EF4-FFF2-40B4-BE49-F238E27FC236}">
                    <a16:creationId xmlns:a16="http://schemas.microsoft.com/office/drawing/2014/main" id="{F0DE0661-0891-1248-9039-AE8EB8BBFDCC}"/>
                  </a:ext>
                </a:extLst>
              </p:cNvPr>
              <p:cNvSpPr txBox="1"/>
              <p:nvPr/>
            </p:nvSpPr>
            <p:spPr>
              <a:xfrm>
                <a:off x="3208076" y="5533532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kumimoji="1" lang="en-US" altLang="ko-KR" sz="1400" dirty="0">
                    <a:latin typeface="Seravek Light" charset="0"/>
                    <a:ea typeface="Seravek Light" charset="0"/>
                    <a:cs typeface="Seravek Light" charset="0"/>
                  </a:rPr>
                  <a:t>-3SEM</a:t>
                </a:r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2" name="텍스트 상자 9">
                <a:extLst>
                  <a:ext uri="{FF2B5EF4-FFF2-40B4-BE49-F238E27FC236}">
                    <a16:creationId xmlns:a16="http://schemas.microsoft.com/office/drawing/2014/main" id="{F0DE0661-0891-1248-9039-AE8EB8BBF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076" y="5533532"/>
                <a:ext cx="829559" cy="307777"/>
              </a:xfrm>
              <a:prstGeom prst="rect">
                <a:avLst/>
              </a:prstGeom>
              <a:blipFill>
                <a:blip r:embed="rId9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텍스트 상자 14">
                <a:extLst>
                  <a:ext uri="{FF2B5EF4-FFF2-40B4-BE49-F238E27FC236}">
                    <a16:creationId xmlns:a16="http://schemas.microsoft.com/office/drawing/2014/main" id="{B8EB7FBA-F3BD-3A49-86D7-A03029336A5C}"/>
                  </a:ext>
                </a:extLst>
              </p:cNvPr>
              <p:cNvSpPr txBox="1"/>
              <p:nvPr/>
            </p:nvSpPr>
            <p:spPr>
              <a:xfrm>
                <a:off x="3982645" y="5533532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kumimoji="1" lang="en-US" altLang="ko-KR" sz="1400" dirty="0">
                    <a:latin typeface="Seravek Light" charset="0"/>
                    <a:ea typeface="Seravek Light" charset="0"/>
                    <a:cs typeface="Seravek Light" charset="0"/>
                  </a:rPr>
                  <a:t>-2SEM</a:t>
                </a:r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4" name="텍스트 상자 14">
                <a:extLst>
                  <a:ext uri="{FF2B5EF4-FFF2-40B4-BE49-F238E27FC236}">
                    <a16:creationId xmlns:a16="http://schemas.microsoft.com/office/drawing/2014/main" id="{B8EB7FBA-F3BD-3A49-86D7-A03029336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645" y="5533532"/>
                <a:ext cx="82955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텍스트 상자 16">
                <a:extLst>
                  <a:ext uri="{FF2B5EF4-FFF2-40B4-BE49-F238E27FC236}">
                    <a16:creationId xmlns:a16="http://schemas.microsoft.com/office/drawing/2014/main" id="{3F2E0C67-7A0E-2B40-9607-68B14F565CF1}"/>
                  </a:ext>
                </a:extLst>
              </p:cNvPr>
              <p:cNvSpPr txBox="1"/>
              <p:nvPr/>
            </p:nvSpPr>
            <p:spPr>
              <a:xfrm>
                <a:off x="4783925" y="5533456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kumimoji="1" lang="en-US" altLang="ko-KR" sz="1400" dirty="0">
                    <a:latin typeface="Seravek Light" charset="0"/>
                    <a:ea typeface="Seravek Light" charset="0"/>
                    <a:cs typeface="Seravek Light" charset="0"/>
                  </a:rPr>
                  <a:t>-SEM</a:t>
                </a:r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5" name="텍스트 상자 16">
                <a:extLst>
                  <a:ext uri="{FF2B5EF4-FFF2-40B4-BE49-F238E27FC236}">
                    <a16:creationId xmlns:a16="http://schemas.microsoft.com/office/drawing/2014/main" id="{3F2E0C67-7A0E-2B40-9607-68B14F565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925" y="5533456"/>
                <a:ext cx="829559" cy="307777"/>
              </a:xfrm>
              <a:prstGeom prst="rect">
                <a:avLst/>
              </a:prstGeom>
              <a:blipFill>
                <a:blip r:embed="rId11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텍스트 상자 18">
                <a:extLst>
                  <a:ext uri="{FF2B5EF4-FFF2-40B4-BE49-F238E27FC236}">
                    <a16:creationId xmlns:a16="http://schemas.microsoft.com/office/drawing/2014/main" id="{5A716E07-6912-C44E-A349-96E32A0EB2C9}"/>
                  </a:ext>
                </a:extLst>
              </p:cNvPr>
              <p:cNvSpPr txBox="1"/>
              <p:nvPr/>
            </p:nvSpPr>
            <p:spPr>
              <a:xfrm>
                <a:off x="6349359" y="5533266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kumimoji="1" lang="en-US" altLang="ko-KR" sz="1400" dirty="0">
                    <a:latin typeface="Seravek Light" charset="0"/>
                    <a:ea typeface="Seravek Light" charset="0"/>
                    <a:cs typeface="Seravek Light" charset="0"/>
                  </a:rPr>
                  <a:t>+SEM</a:t>
                </a:r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6" name="텍스트 상자 18">
                <a:extLst>
                  <a:ext uri="{FF2B5EF4-FFF2-40B4-BE49-F238E27FC236}">
                    <a16:creationId xmlns:a16="http://schemas.microsoft.com/office/drawing/2014/main" id="{5A716E07-6912-C44E-A349-96E32A0EB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359" y="5533266"/>
                <a:ext cx="829559" cy="307777"/>
              </a:xfrm>
              <a:prstGeom prst="rect">
                <a:avLst/>
              </a:prstGeom>
              <a:blipFill>
                <a:blip r:embed="rId1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텍스트 상자 19">
                <a:extLst>
                  <a:ext uri="{FF2B5EF4-FFF2-40B4-BE49-F238E27FC236}">
                    <a16:creationId xmlns:a16="http://schemas.microsoft.com/office/drawing/2014/main" id="{69783E3C-3E6A-3949-88D7-BE01C560C2BD}"/>
                  </a:ext>
                </a:extLst>
              </p:cNvPr>
              <p:cNvSpPr txBox="1"/>
              <p:nvPr/>
            </p:nvSpPr>
            <p:spPr>
              <a:xfrm>
                <a:off x="7123928" y="5533266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kumimoji="1" lang="en-US" altLang="ko-KR" sz="1400" dirty="0">
                    <a:latin typeface="Seravek Light" charset="0"/>
                    <a:ea typeface="Seravek Light" charset="0"/>
                    <a:cs typeface="Seravek Light" charset="0"/>
                  </a:rPr>
                  <a:t>+2SEM</a:t>
                </a:r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7" name="텍스트 상자 19">
                <a:extLst>
                  <a:ext uri="{FF2B5EF4-FFF2-40B4-BE49-F238E27FC236}">
                    <a16:creationId xmlns:a16="http://schemas.microsoft.com/office/drawing/2014/main" id="{69783E3C-3E6A-3949-88D7-BE01C560C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928" y="5533266"/>
                <a:ext cx="829559" cy="307777"/>
              </a:xfrm>
              <a:prstGeom prst="rect">
                <a:avLst/>
              </a:prstGeom>
              <a:blipFill>
                <a:blip r:embed="rId1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텍스트 상자 20">
                <a:extLst>
                  <a:ext uri="{FF2B5EF4-FFF2-40B4-BE49-F238E27FC236}">
                    <a16:creationId xmlns:a16="http://schemas.microsoft.com/office/drawing/2014/main" id="{76A825EB-918F-F649-9EA0-2367A6D2B837}"/>
                  </a:ext>
                </a:extLst>
              </p:cNvPr>
              <p:cNvSpPr txBox="1"/>
              <p:nvPr/>
            </p:nvSpPr>
            <p:spPr>
              <a:xfrm>
                <a:off x="7925208" y="5533190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𝜇</m:t>
                    </m:r>
                  </m:oMath>
                </a14:m>
                <a:r>
                  <a:rPr kumimoji="1" lang="en-US" altLang="ko-KR" sz="1400" dirty="0">
                    <a:latin typeface="Seravek Light" charset="0"/>
                    <a:ea typeface="Seravek Light" charset="0"/>
                    <a:cs typeface="Seravek Light" charset="0"/>
                  </a:rPr>
                  <a:t>+3SEM</a:t>
                </a:r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8" name="텍스트 상자 20">
                <a:extLst>
                  <a:ext uri="{FF2B5EF4-FFF2-40B4-BE49-F238E27FC236}">
                    <a16:creationId xmlns:a16="http://schemas.microsoft.com/office/drawing/2014/main" id="{76A825EB-918F-F649-9EA0-2367A6D2B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208" y="5533190"/>
                <a:ext cx="829559" cy="307777"/>
              </a:xfrm>
              <a:prstGeom prst="rect">
                <a:avLst/>
              </a:prstGeom>
              <a:blipFill>
                <a:blip r:embed="rId1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텍스트 상자 16">
                <a:extLst>
                  <a:ext uri="{FF2B5EF4-FFF2-40B4-BE49-F238E27FC236}">
                    <a16:creationId xmlns:a16="http://schemas.microsoft.com/office/drawing/2014/main" id="{B786E60A-7896-4145-83F8-7D396DF1FD06}"/>
                  </a:ext>
                </a:extLst>
              </p:cNvPr>
              <p:cNvSpPr txBox="1"/>
              <p:nvPr/>
            </p:nvSpPr>
            <p:spPr>
              <a:xfrm>
                <a:off x="5580446" y="5520998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m:oMathPara>
                </a14:m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39" name="텍스트 상자 16">
                <a:extLst>
                  <a:ext uri="{FF2B5EF4-FFF2-40B4-BE49-F238E27FC236}">
                    <a16:creationId xmlns:a16="http://schemas.microsoft.com/office/drawing/2014/main" id="{B786E60A-7896-4145-83F8-7D396DF1F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446" y="5520998"/>
                <a:ext cx="82955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22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bldLvl="2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3167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Confidence Interval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12 |  102918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239185" y="553961"/>
            <a:ext cx="6117799" cy="2143701"/>
            <a:chOff x="3243017" y="3732181"/>
            <a:chExt cx="6117799" cy="214370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3017" y="3732181"/>
              <a:ext cx="5759581" cy="2143701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409468" y="3799002"/>
              <a:ext cx="1951348" cy="1005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텍스트 상자 9"/>
                <p:cNvSpPr txBox="1"/>
                <p:nvPr/>
              </p:nvSpPr>
              <p:spPr>
                <a:xfrm>
                  <a:off x="3290152" y="5549251"/>
                  <a:ext cx="82955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a14:m>
                  <a:r>
                    <a:rPr kumimoji="1" lang="en-US" altLang="ko-KR" sz="1400" dirty="0">
                      <a:latin typeface="Seravek Light" charset="0"/>
                      <a:ea typeface="Seravek Light" charset="0"/>
                      <a:cs typeface="Seravek Light" charset="0"/>
                    </a:rPr>
                    <a:t>-3SEM</a:t>
                  </a:r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10" name="텍스트 상자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0152" y="5549251"/>
                  <a:ext cx="829559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텍스트 상자 14"/>
                <p:cNvSpPr txBox="1"/>
                <p:nvPr/>
              </p:nvSpPr>
              <p:spPr>
                <a:xfrm>
                  <a:off x="4064721" y="5549251"/>
                  <a:ext cx="82955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a14:m>
                  <a:r>
                    <a:rPr kumimoji="1" lang="en-US" altLang="ko-KR" sz="1400" dirty="0">
                      <a:latin typeface="Seravek Light" charset="0"/>
                      <a:ea typeface="Seravek Light" charset="0"/>
                      <a:cs typeface="Seravek Light" charset="0"/>
                    </a:rPr>
                    <a:t>-2SEM</a:t>
                  </a:r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15" name="텍스트 상자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4721" y="5549251"/>
                  <a:ext cx="829559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텍스트 상자 16"/>
                <p:cNvSpPr txBox="1"/>
                <p:nvPr/>
              </p:nvSpPr>
              <p:spPr>
                <a:xfrm>
                  <a:off x="4866001" y="5549175"/>
                  <a:ext cx="82955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a14:m>
                  <a:r>
                    <a:rPr kumimoji="1" lang="en-US" altLang="ko-KR" sz="1400" dirty="0">
                      <a:latin typeface="Seravek Light" charset="0"/>
                      <a:ea typeface="Seravek Light" charset="0"/>
                      <a:cs typeface="Seravek Light" charset="0"/>
                    </a:rPr>
                    <a:t>-SEM</a:t>
                  </a:r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17" name="텍스트 상자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6001" y="5549175"/>
                  <a:ext cx="829559" cy="307777"/>
                </a:xfrm>
                <a:prstGeom prst="rect">
                  <a:avLst/>
                </a:prstGeom>
                <a:blipFill>
                  <a:blip r:embed="rId9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텍스트 상자 18"/>
                <p:cNvSpPr txBox="1"/>
                <p:nvPr/>
              </p:nvSpPr>
              <p:spPr>
                <a:xfrm>
                  <a:off x="6431435" y="5548985"/>
                  <a:ext cx="82955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a14:m>
                  <a:r>
                    <a:rPr kumimoji="1" lang="en-US" altLang="ko-KR" sz="1400" dirty="0">
                      <a:latin typeface="Seravek Light" charset="0"/>
                      <a:ea typeface="Seravek Light" charset="0"/>
                      <a:cs typeface="Seravek Light" charset="0"/>
                    </a:rPr>
                    <a:t>+SEM</a:t>
                  </a:r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19" name="텍스트 상자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1435" y="5548985"/>
                  <a:ext cx="829559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텍스트 상자 19"/>
                <p:cNvSpPr txBox="1"/>
                <p:nvPr/>
              </p:nvSpPr>
              <p:spPr>
                <a:xfrm>
                  <a:off x="7206004" y="5548985"/>
                  <a:ext cx="82955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a14:m>
                  <a:r>
                    <a:rPr kumimoji="1" lang="en-US" altLang="ko-KR" sz="1400" dirty="0">
                      <a:latin typeface="Seravek Light" charset="0"/>
                      <a:ea typeface="Seravek Light" charset="0"/>
                      <a:cs typeface="Seravek Light" charset="0"/>
                    </a:rPr>
                    <a:t>+2SEM</a:t>
                  </a:r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20" name="텍스트 상자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004" y="5548985"/>
                  <a:ext cx="829559" cy="307777"/>
                </a:xfrm>
                <a:prstGeom prst="rect">
                  <a:avLst/>
                </a:prstGeom>
                <a:blipFill>
                  <a:blip r:embed="rId11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텍스트 상자 20"/>
                <p:cNvSpPr txBox="1"/>
                <p:nvPr/>
              </p:nvSpPr>
              <p:spPr>
                <a:xfrm>
                  <a:off x="8007284" y="5548909"/>
                  <a:ext cx="82955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a14:m>
                  <a:r>
                    <a:rPr kumimoji="1" lang="en-US" altLang="ko-KR" sz="1400" dirty="0">
                      <a:latin typeface="Seravek Light" charset="0"/>
                      <a:ea typeface="Seravek Light" charset="0"/>
                      <a:cs typeface="Seravek Light" charset="0"/>
                    </a:rPr>
                    <a:t>+3SEM</a:t>
                  </a:r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21" name="텍스트 상자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7284" y="5548909"/>
                  <a:ext cx="829559" cy="307777"/>
                </a:xfrm>
                <a:prstGeom prst="rect">
                  <a:avLst/>
                </a:prstGeom>
                <a:blipFill>
                  <a:blip r:embed="rId12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직선 연결선[R] 28"/>
          <p:cNvCxnSpPr/>
          <p:nvPr/>
        </p:nvCxnSpPr>
        <p:spPr>
          <a:xfrm>
            <a:off x="6067022" y="2615518"/>
            <a:ext cx="0" cy="414493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/>
          <p:cNvGrpSpPr/>
          <p:nvPr/>
        </p:nvGrpSpPr>
        <p:grpSpPr>
          <a:xfrm>
            <a:off x="5857488" y="2662962"/>
            <a:ext cx="3038026" cy="446885"/>
            <a:chOff x="5750043" y="2893947"/>
            <a:chExt cx="3038026" cy="446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텍스트 상자 24"/>
                <p:cNvSpPr txBox="1"/>
                <p:nvPr/>
              </p:nvSpPr>
              <p:spPr>
                <a:xfrm>
                  <a:off x="6910759" y="2893947"/>
                  <a:ext cx="82955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Seravek Light" charset="0"/>
                                <a:cs typeface="Seravek Light" charset="0"/>
                              </a:rPr>
                            </m:ctrlPr>
                          </m:accPr>
                          <m:e>
                            <m:r>
                              <a:rPr lang="en-US" altLang="ko-KR" sz="1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ravek Light" charset="0"/>
                              </a:rPr>
                              <m:t>𝜇</m:t>
                            </m:r>
                          </m:e>
                        </m:acc>
                      </m:oMath>
                    </m:oMathPara>
                  </a14:m>
                  <a:endParaRPr kumimoji="1" lang="ko-KR" altLang="en-US" sz="1400" dirty="0">
                    <a:latin typeface="Seravek Light" charset="0"/>
                    <a:ea typeface="Seravek Light" charset="0"/>
                    <a:cs typeface="Seravek Light" charset="0"/>
                  </a:endParaRPr>
                </a:p>
              </p:txBody>
            </p:sp>
          </mc:Choice>
          <mc:Fallback xmlns="">
            <p:sp>
              <p:nvSpPr>
                <p:cNvPr id="25" name="텍스트 상자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0759" y="2893947"/>
                  <a:ext cx="829559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직선 연결선[R] 26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[R] 32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타원 23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4" name="직선 연결선[R] 33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[R] 35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/>
          <p:cNvGrpSpPr/>
          <p:nvPr/>
        </p:nvGrpSpPr>
        <p:grpSpPr>
          <a:xfrm>
            <a:off x="5499191" y="3265074"/>
            <a:ext cx="3038026" cy="178006"/>
            <a:chOff x="5750043" y="3162826"/>
            <a:chExt cx="3038026" cy="178006"/>
          </a:xfrm>
        </p:grpSpPr>
        <p:cxnSp>
          <p:nvCxnSpPr>
            <p:cNvPr id="40" name="직선 연결선[R] 39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[R] 40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타원 41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3" name="직선 연결선[R] 42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[R] 43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3849222" y="3622567"/>
            <a:ext cx="3038026" cy="178006"/>
            <a:chOff x="5750043" y="3162826"/>
            <a:chExt cx="3038026" cy="178006"/>
          </a:xfrm>
        </p:grpSpPr>
        <p:cxnSp>
          <p:nvCxnSpPr>
            <p:cNvPr id="46" name="직선 연결선[R] 45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[R] 46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타원 47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9" name="직선 연결선[R] 48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/>
          <p:cNvGrpSpPr/>
          <p:nvPr/>
        </p:nvGrpSpPr>
        <p:grpSpPr>
          <a:xfrm>
            <a:off x="4713751" y="3980060"/>
            <a:ext cx="3038026" cy="178006"/>
            <a:chOff x="5750043" y="3162826"/>
            <a:chExt cx="3038026" cy="178006"/>
          </a:xfrm>
        </p:grpSpPr>
        <p:cxnSp>
          <p:nvCxnSpPr>
            <p:cNvPr id="52" name="직선 연결선[R] 51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[R] 52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5" name="직선 연결선[R] 54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[R] 55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/>
          <p:cNvGrpSpPr/>
          <p:nvPr/>
        </p:nvGrpSpPr>
        <p:grpSpPr>
          <a:xfrm>
            <a:off x="5851500" y="4337553"/>
            <a:ext cx="3038026" cy="178006"/>
            <a:chOff x="5750043" y="3162826"/>
            <a:chExt cx="3038026" cy="178006"/>
          </a:xfrm>
        </p:grpSpPr>
        <p:cxnSp>
          <p:nvCxnSpPr>
            <p:cNvPr id="58" name="직선 연결선[R] 57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[R] 58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61" name="직선 연결선[R] 60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[R] 61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/>
          <p:cNvGrpSpPr/>
          <p:nvPr/>
        </p:nvGrpSpPr>
        <p:grpSpPr>
          <a:xfrm>
            <a:off x="4609070" y="4695046"/>
            <a:ext cx="3038026" cy="178006"/>
            <a:chOff x="5750043" y="3162826"/>
            <a:chExt cx="3038026" cy="178006"/>
          </a:xfrm>
        </p:grpSpPr>
        <p:cxnSp>
          <p:nvCxnSpPr>
            <p:cNvPr id="64" name="직선 연결선[R] 63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[R] 64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67" name="직선 연결선[R] 66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[R] 67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그룹 68"/>
          <p:cNvGrpSpPr/>
          <p:nvPr/>
        </p:nvGrpSpPr>
        <p:grpSpPr>
          <a:xfrm>
            <a:off x="6484439" y="5052539"/>
            <a:ext cx="3038026" cy="178006"/>
            <a:chOff x="5750043" y="3162826"/>
            <a:chExt cx="3038026" cy="178006"/>
          </a:xfrm>
        </p:grpSpPr>
        <p:cxnSp>
          <p:nvCxnSpPr>
            <p:cNvPr id="70" name="직선 연결선[R] 69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[R] 70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3" name="직선 연결선[R] 72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[R] 73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그룹 74"/>
          <p:cNvGrpSpPr/>
          <p:nvPr/>
        </p:nvGrpSpPr>
        <p:grpSpPr>
          <a:xfrm>
            <a:off x="3757935" y="5410032"/>
            <a:ext cx="3038026" cy="178006"/>
            <a:chOff x="5750043" y="3162826"/>
            <a:chExt cx="3038026" cy="178006"/>
          </a:xfrm>
        </p:grpSpPr>
        <p:cxnSp>
          <p:nvCxnSpPr>
            <p:cNvPr id="76" name="직선 연결선[R] 75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[R] 76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9" name="직선 연결선[R] 78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[R] 79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/>
          <p:cNvGrpSpPr/>
          <p:nvPr/>
        </p:nvGrpSpPr>
        <p:grpSpPr>
          <a:xfrm>
            <a:off x="3266276" y="5767525"/>
            <a:ext cx="3038026" cy="178006"/>
            <a:chOff x="5750043" y="3162826"/>
            <a:chExt cx="3038026" cy="178006"/>
          </a:xfrm>
        </p:grpSpPr>
        <p:cxnSp>
          <p:nvCxnSpPr>
            <p:cNvPr id="82" name="직선 연결선[R] 81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[R] 82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타원 83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5" name="직선 연결선[R] 84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[R] 85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그룹 86"/>
          <p:cNvGrpSpPr/>
          <p:nvPr/>
        </p:nvGrpSpPr>
        <p:grpSpPr>
          <a:xfrm>
            <a:off x="5562012" y="6125018"/>
            <a:ext cx="3038026" cy="178006"/>
            <a:chOff x="5750043" y="3162826"/>
            <a:chExt cx="3038026" cy="178006"/>
          </a:xfrm>
        </p:grpSpPr>
        <p:cxnSp>
          <p:nvCxnSpPr>
            <p:cNvPr id="88" name="직선 연결선[R] 87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[R] 88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타원 89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1" name="직선 연결선[R] 90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[R] 91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그룹 92"/>
          <p:cNvGrpSpPr/>
          <p:nvPr/>
        </p:nvGrpSpPr>
        <p:grpSpPr>
          <a:xfrm>
            <a:off x="5235479" y="6482510"/>
            <a:ext cx="3038026" cy="178006"/>
            <a:chOff x="5750043" y="3162826"/>
            <a:chExt cx="3038026" cy="178006"/>
          </a:xfrm>
        </p:grpSpPr>
        <p:cxnSp>
          <p:nvCxnSpPr>
            <p:cNvPr id="94" name="직선 연결선[R] 93"/>
            <p:cNvCxnSpPr/>
            <p:nvPr/>
          </p:nvCxnSpPr>
          <p:spPr>
            <a:xfrm>
              <a:off x="5756567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/>
            <p:cNvCxnSpPr/>
            <p:nvPr/>
          </p:nvCxnSpPr>
          <p:spPr>
            <a:xfrm flipH="1">
              <a:off x="7237635" y="3256854"/>
              <a:ext cx="1550434" cy="0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타원 95"/>
            <p:cNvSpPr>
              <a:spLocks noChangeAspect="1"/>
            </p:cNvSpPr>
            <p:nvPr/>
          </p:nvSpPr>
          <p:spPr>
            <a:xfrm>
              <a:off x="7237635" y="320285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7" name="직선 연결선[R] 96"/>
            <p:cNvCxnSpPr/>
            <p:nvPr/>
          </p:nvCxnSpPr>
          <p:spPr>
            <a:xfrm flipH="1" flipV="1">
              <a:off x="5750043" y="3162826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/>
            <p:cNvCxnSpPr/>
            <p:nvPr/>
          </p:nvCxnSpPr>
          <p:spPr>
            <a:xfrm flipH="1" flipV="1">
              <a:off x="8782081" y="3172873"/>
              <a:ext cx="0" cy="167959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텍스트 상자 18">
                <a:extLst>
                  <a:ext uri="{FF2B5EF4-FFF2-40B4-BE49-F238E27FC236}">
                    <a16:creationId xmlns:a16="http://schemas.microsoft.com/office/drawing/2014/main" id="{F669E3CE-A3F7-5745-8DC5-1EAA5CE8FA32}"/>
                  </a:ext>
                </a:extLst>
              </p:cNvPr>
              <p:cNvSpPr txBox="1"/>
              <p:nvPr/>
            </p:nvSpPr>
            <p:spPr>
              <a:xfrm>
                <a:off x="5670883" y="2366926"/>
                <a:ext cx="8295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ravek Light" charset="0"/>
                        </a:rPr>
                        <m:t>𝜇</m:t>
                      </m:r>
                    </m:oMath>
                  </m:oMathPara>
                </a14:m>
                <a:endParaRPr kumimoji="1" lang="ko-KR" altLang="en-US" sz="1400" dirty="0">
                  <a:latin typeface="Seravek Light" charset="0"/>
                  <a:ea typeface="Seravek Light" charset="0"/>
                  <a:cs typeface="Seravek Light" charset="0"/>
                </a:endParaRPr>
              </a:p>
            </p:txBody>
          </p:sp>
        </mc:Choice>
        <mc:Fallback xmlns="">
          <p:sp>
            <p:nvSpPr>
              <p:cNvPr id="99" name="텍스트 상자 18">
                <a:extLst>
                  <a:ext uri="{FF2B5EF4-FFF2-40B4-BE49-F238E27FC236}">
                    <a16:creationId xmlns:a16="http://schemas.microsoft.com/office/drawing/2014/main" id="{F669E3CE-A3F7-5745-8DC5-1EAA5CE8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883" y="2366926"/>
                <a:ext cx="829559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10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5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3167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Confidence Interval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12 |  102918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99" name="텍스트 상자 98"/>
          <p:cNvSpPr txBox="1"/>
          <p:nvPr/>
        </p:nvSpPr>
        <p:spPr>
          <a:xfrm>
            <a:off x="881137" y="1072542"/>
            <a:ext cx="9953773" cy="2129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Each sample mean and standard deviation can be used to make a confidence interval.</a:t>
            </a:r>
          </a:p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The </a:t>
            </a:r>
            <a:r>
              <a:rPr lang="en-US" altLang="ko-KR" b="1" dirty="0">
                <a:latin typeface="Seravek Light" charset="0"/>
                <a:ea typeface="Seravek Light" charset="0"/>
                <a:cs typeface="Seravek Light" charset="0"/>
              </a:rPr>
              <a:t>Central Limit Theorem </a:t>
            </a: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assures us that (in the long run) 95% of the intervals cover the true value, and only 5% are wrong. </a:t>
            </a:r>
          </a:p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Our confidence (and our uncertainty) is about the interval, not the true parameter.</a:t>
            </a:r>
          </a:p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endParaRPr lang="en-US" altLang="ko-KR" dirty="0">
              <a:latin typeface="Seravek Light" charset="0"/>
              <a:ea typeface="Seravek Light" charset="0"/>
              <a:cs typeface="Seravek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7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613" y="2733940"/>
            <a:ext cx="5846092" cy="3505889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202" y="6518941"/>
            <a:ext cx="4169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</a:rPr>
              <a:t>CHOONG-WAN WOO  |  COCOAN lab  |  </a:t>
            </a:r>
            <a:r>
              <a:rPr lang="en-US" altLang="ko-KR" sz="1100" dirty="0">
                <a:latin typeface="Seravek Light" charset="0"/>
                <a:ea typeface="Seravek Light" charset="0"/>
                <a:cs typeface="Seravek Light" charset="0"/>
                <a:hlinkClick r:id="rId6"/>
              </a:rPr>
              <a:t>http://cocoanlab.github.io</a:t>
            </a:r>
            <a:endParaRPr lang="en-US" altLang="ko-KR" sz="11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3530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Certainty vs. Precision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12 |  102918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상자 11"/>
              <p:cNvSpPr txBox="1"/>
              <p:nvPr/>
            </p:nvSpPr>
            <p:spPr>
              <a:xfrm>
                <a:off x="881137" y="861527"/>
                <a:ext cx="10433307" cy="3185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14325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Our confidence interval has this form: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Seravek Light" charset="0"/>
                            <a:cs typeface="Seravek Light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ravek Light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kumimoji="1" lang="ko-KR" altLang="en-US" dirty="0">
                            <a:latin typeface="Seravek Light" charset="0"/>
                            <a:ea typeface="Seravek Light" charset="0"/>
                            <a:cs typeface="Seravek Light" charset="0"/>
                          </a:rPr>
                          <m:t> </m:t>
                        </m:r>
                      </m:e>
                    </m:acc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2 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𝑆𝐸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ravek Light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kumimoji="1" lang="ko-KR" altLang="en-US" dirty="0">
                            <a:latin typeface="Seravek Light" charset="0"/>
                            <a:ea typeface="Seravek Light" charset="0"/>
                            <a:cs typeface="Seravek Light" charset="0"/>
                          </a:rPr>
                          <m:t> </m:t>
                        </m:r>
                      </m:e>
                    </m:acc>
                    <m:r>
                      <a:rPr lang="en-US" altLang="ko-KR" b="0" i="1" smtClean="0">
                        <a:latin typeface="Cambria Math" charset="0"/>
                        <a:ea typeface="Seravek Light" charset="0"/>
                        <a:cs typeface="Seravek Light" charset="0"/>
                      </a:rPr>
                      <m:t>)</m:t>
                    </m:r>
                  </m:oMath>
                </a14:m>
                <a:endParaRPr lang="en-US" altLang="ko-KR" dirty="0">
                  <a:latin typeface="Seravek Light" charset="0"/>
                  <a:ea typeface="Seravek Light" charset="0"/>
                  <a:cs typeface="Seravek Light" charset="0"/>
                </a:endParaRP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2 </m:t>
                    </m:r>
                    <m:r>
                      <a:rPr lang="en-US" altLang="ko-KR" sz="1600" i="1">
                        <a:latin typeface="Cambria Math" charset="0"/>
                        <a:ea typeface="Cambria Math" charset="0"/>
                        <a:cs typeface="Cambria Math" charset="0"/>
                      </a:rPr>
                      <m:t>𝑆𝐸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ravek Light" charset="0"/>
                              </a:rPr>
                              <m:t>𝜇</m:t>
                            </m:r>
                            <m:r>
                              <m:rPr>
                                <m:nor/>
                              </m:rPr>
                              <a:rPr kumimoji="1" lang="ko-KR" altLang="en-US" sz="1600" dirty="0">
                                <a:latin typeface="Seravek Light" charset="0"/>
                                <a:ea typeface="Seravek Light" charset="0"/>
                                <a:cs typeface="Seravek Light" charset="0"/>
                              </a:rPr>
                              <m:t> 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 is called the margin of error (ME).</a:t>
                </a: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Any population parameter (proportion, mean, regression slope, etc.) can be estimated with some margin of error.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General form: Estimate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±</m:t>
                    </m:r>
                  </m:oMath>
                </a14:m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 </a:t>
                </a:r>
                <a:r>
                  <a:rPr lang="en-US" altLang="ko-KR" i="1" dirty="0">
                    <a:latin typeface="Seravek Light" charset="0"/>
                    <a:ea typeface="Seravek Light" charset="0"/>
                    <a:cs typeface="Seravek Light" charset="0"/>
                  </a:rPr>
                  <a:t>ME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ME can be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95% confidence interval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≈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 2 SE (exactly, 1.96 SE)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99.7% confidence interval = 3 SE</a:t>
                </a:r>
              </a:p>
            </p:txBody>
          </p:sp>
        </mc:Choice>
        <mc:Fallback xmlns="">
          <p:sp>
            <p:nvSpPr>
              <p:cNvPr id="12" name="텍스트 상자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37" y="861527"/>
                <a:ext cx="10433307" cy="3185487"/>
              </a:xfrm>
              <a:prstGeom prst="rect">
                <a:avLst/>
              </a:prstGeom>
              <a:blipFill>
                <a:blip r:embed="rId7"/>
                <a:stretch>
                  <a:fillRect l="-2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96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3530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Certainty vs. Precision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12 |  102918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텍스트 상자 98"/>
              <p:cNvSpPr txBox="1"/>
              <p:nvPr/>
            </p:nvSpPr>
            <p:spPr>
              <a:xfrm>
                <a:off x="881137" y="861527"/>
                <a:ext cx="10433307" cy="5781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14325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Our confidence interval has this form: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Seravek Light" charset="0"/>
                            <a:cs typeface="Seravek Light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ravek Light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kumimoji="1" lang="ko-KR" altLang="en-US" dirty="0">
                            <a:latin typeface="Seravek Light" charset="0"/>
                            <a:ea typeface="Seravek Light" charset="0"/>
                            <a:cs typeface="Seravek Light" charset="0"/>
                          </a:rPr>
                          <m:t> </m:t>
                        </m:r>
                      </m:e>
                    </m:acc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±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2 </m:t>
                    </m:r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𝑆𝐸</m:t>
                    </m:r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ravek Light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kumimoji="1" lang="ko-KR" altLang="en-US" dirty="0">
                            <a:latin typeface="Seravek Light" charset="0"/>
                            <a:ea typeface="Seravek Light" charset="0"/>
                            <a:cs typeface="Seravek Light" charset="0"/>
                          </a:rPr>
                          <m:t> </m:t>
                        </m:r>
                      </m:e>
                    </m:acc>
                    <m:r>
                      <a:rPr lang="en-US" altLang="ko-KR" i="1">
                        <a:latin typeface="Cambria Math" charset="0"/>
                        <a:ea typeface="Seravek Light" charset="0"/>
                        <a:cs typeface="Seravek Light" charset="0"/>
                      </a:rPr>
                      <m:t>)</m:t>
                    </m:r>
                  </m:oMath>
                </a14:m>
                <a:endParaRPr lang="en-US" altLang="ko-KR" dirty="0">
                  <a:latin typeface="Seravek Light" charset="0"/>
                  <a:ea typeface="Seravek Light" charset="0"/>
                  <a:cs typeface="Seravek Light" charset="0"/>
                </a:endParaRP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2 </m:t>
                    </m:r>
                    <m:r>
                      <a:rPr lang="en-US" altLang="ko-KR" sz="1600" i="1">
                        <a:latin typeface="Cambria Math" charset="0"/>
                        <a:ea typeface="Cambria Math" charset="0"/>
                        <a:cs typeface="Cambria Math" charset="0"/>
                      </a:rPr>
                      <m:t>𝑆𝐸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ravek Light" charset="0"/>
                              </a:rPr>
                              <m:t>𝜇</m:t>
                            </m:r>
                            <m:r>
                              <m:rPr>
                                <m:nor/>
                              </m:rPr>
                              <a:rPr kumimoji="1" lang="ko-KR" altLang="en-US" sz="1600" dirty="0">
                                <a:latin typeface="Seravek Light" charset="0"/>
                                <a:ea typeface="Seravek Light" charset="0"/>
                                <a:cs typeface="Seravek Light" charset="0"/>
                              </a:rPr>
                              <m:t> 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 is called the margin of error (ME).</a:t>
                </a:r>
              </a:p>
              <a:p>
                <a:pPr marL="771525" lvl="1" indent="-314325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Any population parameter (proportion, mean, regression slope, etc.) can be estimated with some margin of error.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General form: Estimate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±</m:t>
                    </m:r>
                  </m:oMath>
                </a14:m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 </a:t>
                </a:r>
                <a:r>
                  <a:rPr lang="en-US" altLang="ko-KR" i="1" dirty="0">
                    <a:latin typeface="Seravek Light" charset="0"/>
                    <a:ea typeface="Seravek Light" charset="0"/>
                    <a:cs typeface="Seravek Light" charset="0"/>
                  </a:rPr>
                  <a:t>ME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dirty="0">
                    <a:latin typeface="Seravek Light" charset="0"/>
                    <a:ea typeface="Seravek Light" charset="0"/>
                    <a:cs typeface="Seravek Light" charset="0"/>
                  </a:rPr>
                  <a:t>ME can be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95% confidence interval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ravek Light" charset="0"/>
                      </a:rPr>
                      <m:t>≈</m:t>
                    </m:r>
                  </m:oMath>
                </a14:m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 2 SE (exactly, 1.96 SE)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99.7% confidence interval = 3SE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The more confident we want to be, the larger the margin of error must be.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E.g., 100% confidence: provide all the possible range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i="1" dirty="0">
                    <a:latin typeface="Seravek Light" charset="0"/>
                    <a:ea typeface="Seravek Light" charset="0"/>
                    <a:cs typeface="Seravek Light" charset="0"/>
                  </a:rPr>
                  <a:t>Is this useful? </a:t>
                </a: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NO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Or we can give a very narrow interval (e.g., 30.7%-30.9%) with very low confidence.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i="1" dirty="0">
                    <a:latin typeface="Seravek Light" charset="0"/>
                    <a:ea typeface="Seravek Light" charset="0"/>
                    <a:cs typeface="Seravek Light" charset="0"/>
                  </a:rPr>
                  <a:t>is this useful? </a:t>
                </a: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Maybe not.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b="1" dirty="0">
                    <a:solidFill>
                      <a:srgbClr val="C00000"/>
                    </a:solidFill>
                    <a:latin typeface="Seravek Light" charset="0"/>
                    <a:ea typeface="Seravek Light" charset="0"/>
                    <a:cs typeface="Seravek Light" charset="0"/>
                  </a:rPr>
                  <a:t>Every confidence interval is a balance between certainty and precision.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altLang="ko-KR" sz="1600" dirty="0">
                    <a:latin typeface="Seravek Light" charset="0"/>
                    <a:ea typeface="Seravek Light" charset="0"/>
                    <a:cs typeface="Seravek Light" charset="0"/>
                  </a:rPr>
                  <a:t>90%, 95%, 99% are commonly used.</a:t>
                </a:r>
              </a:p>
            </p:txBody>
          </p:sp>
        </mc:Choice>
        <mc:Fallback>
          <p:sp>
            <p:nvSpPr>
              <p:cNvPr id="99" name="텍스트 상자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37" y="861527"/>
                <a:ext cx="10433307" cy="5781070"/>
              </a:xfrm>
              <a:prstGeom prst="rect">
                <a:avLst/>
              </a:prstGeom>
              <a:blipFill>
                <a:blip r:embed="rId5"/>
                <a:stretch>
                  <a:fillRect l="-243" b="-2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uiExpand="1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422294" y="6186196"/>
            <a:ext cx="1661681" cy="671804"/>
            <a:chOff x="18662" y="6209254"/>
            <a:chExt cx="1661681" cy="6718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62" y="6209254"/>
              <a:ext cx="671804" cy="67180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49" y="6262887"/>
              <a:ext cx="597215" cy="51704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804" y="6322730"/>
              <a:ext cx="438539" cy="438539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0" y="0"/>
            <a:ext cx="12192000" cy="102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6491" y="222608"/>
            <a:ext cx="23223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Seravek" charset="0"/>
                <a:ea typeface="Seravek" charset="0"/>
                <a:cs typeface="Seravek" charset="0"/>
              </a:rPr>
              <a:t>Critical values</a:t>
            </a:r>
            <a:endParaRPr lang="ko-KR" altLang="en-US" sz="2800" dirty="0">
              <a:latin typeface="Seravek" charset="0"/>
              <a:ea typeface="Seravek" charset="0"/>
              <a:cs typeface="Seravek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894433" y="84109"/>
            <a:ext cx="230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Seravek Light" charset="0"/>
                <a:ea typeface="Seravek Light" charset="0"/>
                <a:cs typeface="Seravek Light" charset="0"/>
              </a:rPr>
              <a:t>Lecture 12 |  102918</a:t>
            </a:r>
            <a:endParaRPr lang="ko-KR" altLang="en-US" sz="1200" dirty="0">
              <a:latin typeface="Seravek Light" charset="0"/>
              <a:ea typeface="Seravek Light" charset="0"/>
              <a:cs typeface="Seravek Light" charset="0"/>
            </a:endParaRPr>
          </a:p>
        </p:txBody>
      </p:sp>
      <p:sp>
        <p:nvSpPr>
          <p:cNvPr id="99" name="텍스트 상자 98"/>
          <p:cNvSpPr txBox="1"/>
          <p:nvPr/>
        </p:nvSpPr>
        <p:spPr>
          <a:xfrm>
            <a:off x="881137" y="861527"/>
            <a:ext cx="10433307" cy="171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Critical value = the </a:t>
            </a:r>
            <a:r>
              <a:rPr lang="en-US" altLang="ko-KR" i="1" dirty="0">
                <a:latin typeface="Seravek Light" charset="0"/>
                <a:ea typeface="Seravek Light" charset="0"/>
                <a:cs typeface="Seravek Light" charset="0"/>
              </a:rPr>
              <a:t>number </a:t>
            </a: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of SEs (e.g., </a:t>
            </a:r>
            <a:r>
              <a:rPr lang="en-US" altLang="ko-KR" b="1" dirty="0">
                <a:solidFill>
                  <a:srgbClr val="C00000"/>
                </a:solidFill>
                <a:latin typeface="Seravek Light" charset="0"/>
                <a:ea typeface="Seravek Light" charset="0"/>
                <a:cs typeface="Seravek Light" charset="0"/>
              </a:rPr>
              <a:t>2</a:t>
            </a: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 in 2SEs) </a:t>
            </a:r>
          </a:p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Denoted as </a:t>
            </a:r>
            <a:r>
              <a:rPr lang="en-US" altLang="ko-KR" i="1" dirty="0">
                <a:latin typeface="Seravek Light" charset="0"/>
                <a:ea typeface="Seravek Light" charset="0"/>
                <a:cs typeface="Seravek Light" charset="0"/>
              </a:rPr>
              <a:t>z</a:t>
            </a: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*</a:t>
            </a:r>
          </a:p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For 95% confidence interval, the precise critical value is </a:t>
            </a:r>
            <a:r>
              <a:rPr lang="en-US" altLang="ko-KR" i="1" dirty="0">
                <a:latin typeface="Seravek Light" charset="0"/>
                <a:ea typeface="Seravek Light" charset="0"/>
                <a:cs typeface="Seravek Light" charset="0"/>
              </a:rPr>
              <a:t>z</a:t>
            </a: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* = 1.96 </a:t>
            </a:r>
          </a:p>
          <a:p>
            <a:pPr marL="314325" indent="-314325">
              <a:lnSpc>
                <a:spcPct val="150000"/>
              </a:lnSpc>
              <a:buFont typeface="Arial" charset="0"/>
              <a:buChar char="•"/>
            </a:pP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For 99% confidence interval, the precise critical value is </a:t>
            </a:r>
            <a:r>
              <a:rPr lang="en-US" altLang="ko-KR" i="1" dirty="0">
                <a:latin typeface="Seravek Light" charset="0"/>
                <a:ea typeface="Seravek Light" charset="0"/>
                <a:cs typeface="Seravek Light" charset="0"/>
              </a:rPr>
              <a:t>z</a:t>
            </a:r>
            <a:r>
              <a:rPr lang="en-US" altLang="ko-KR" dirty="0">
                <a:latin typeface="Seravek Light" charset="0"/>
                <a:ea typeface="Seravek Light" charset="0"/>
                <a:cs typeface="Seravek Light" charset="0"/>
              </a:rPr>
              <a:t>* = 2.58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539" y="2959113"/>
            <a:ext cx="8155755" cy="259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5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3185</TotalTime>
  <Words>1294</Words>
  <Application>Microsoft Macintosh PowerPoint</Application>
  <PresentationFormat>와이드스크린</PresentationFormat>
  <Paragraphs>153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맑은 고딕</vt:lpstr>
      <vt:lpstr>Arial</vt:lpstr>
      <vt:lpstr>Cambria Math</vt:lpstr>
      <vt:lpstr>PT Sans Narrow</vt:lpstr>
      <vt:lpstr>Seravek</vt:lpstr>
      <vt:lpstr>Seravek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Choong-wan Woo</dc:creator>
  <cp:lastModifiedBy>Choong-wan Woo</cp:lastModifiedBy>
  <cp:revision>423</cp:revision>
  <cp:lastPrinted>2017-08-27T17:09:34Z</cp:lastPrinted>
  <dcterms:created xsi:type="dcterms:W3CDTF">2017-08-24T21:55:02Z</dcterms:created>
  <dcterms:modified xsi:type="dcterms:W3CDTF">2019-04-02T05:23:46Z</dcterms:modified>
</cp:coreProperties>
</file>